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stating the goal: decide who gets a loan, and be honest about how much the data supports.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Which applicants should TapLend approve?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800" y="240792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Credit-risk analysis of 634 approved loans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30175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FD1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case study | Head of Data Science role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5"/>
            <a:ext cx="1985010" cy="1570990"/>
          </a:xfrm>
          <a:prstGeom prst="roundRect">
            <a:avLst>
              <a:gd name="adj" fmla="val 6265"/>
            </a:avLst>
          </a:prstGeom>
          <a:solidFill>
            <a:srgbClr val="FFFFFF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747520"/>
            <a:ext cx="15748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Join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6480" y="2110740"/>
            <a:ext cx="157480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applications to Good/Bad outcomes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59735" y="1517015"/>
            <a:ext cx="1985010" cy="1570990"/>
          </a:xfrm>
          <a:prstGeom prst="roundRect">
            <a:avLst>
              <a:gd name="adj" fmla="val 6265"/>
            </a:avLst>
          </a:prstGeom>
          <a:solidFill>
            <a:srgbClr val="FFFFFF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90240" y="1747520"/>
            <a:ext cx="15748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Explore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90240" y="2110740"/>
            <a:ext cx="157480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what separates good from bad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03495" y="1517015"/>
            <a:ext cx="1985010" cy="1570990"/>
          </a:xfrm>
          <a:prstGeom prst="roundRect">
            <a:avLst>
              <a:gd name="adj" fmla="val 6265"/>
            </a:avLst>
          </a:prstGeom>
          <a:solidFill>
            <a:srgbClr val="FFFFFF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0" y="1747520"/>
            <a:ext cx="15748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Model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34000" y="2110740"/>
            <a:ext cx="157480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explainable scorecard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47255" y="1517015"/>
            <a:ext cx="1985010" cy="1570990"/>
          </a:xfrm>
          <a:prstGeom prst="roundRect">
            <a:avLst>
              <a:gd name="adj" fmla="val 6265"/>
            </a:avLst>
          </a:prstGeom>
          <a:solidFill>
            <a:srgbClr val="FFFFFF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77760" y="1747520"/>
            <a:ext cx="15748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Cutoff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77760" y="2110740"/>
            <a:ext cx="1574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scores into approve/decline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391015" y="1517015"/>
            <a:ext cx="1985010" cy="1570990"/>
          </a:xfrm>
          <a:prstGeom prst="roundRect">
            <a:avLst>
              <a:gd name="adj" fmla="val 6265"/>
            </a:avLst>
          </a:prstGeom>
          <a:solidFill>
            <a:srgbClr val="FFFFFF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21520" y="1747520"/>
            <a:ext cx="15748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Stress test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21520" y="2110740"/>
            <a:ext cx="1574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on later months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20191"/>
            <a:ext cx="2476500" cy="1907540"/>
          </a:xfrm>
          <a:prstGeom prst="roundRect">
            <a:avLst>
              <a:gd name="adj" fmla="val 4993"/>
            </a:avLst>
          </a:prstGeom>
          <a:noFill/>
          <a:ln w="12700">
            <a:solidFill>
              <a:srgbClr val="1F7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6960" y="1778000"/>
            <a:ext cx="2019707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4400" dirty="0">
                <a:solidFill>
                  <a:srgbClr val="1F7A7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647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76960" y="2636520"/>
            <a:ext cx="201970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applications, all approved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11550" y="1520191"/>
            <a:ext cx="2476500" cy="1907540"/>
          </a:xfrm>
          <a:prstGeom prst="roundRect">
            <a:avLst>
              <a:gd name="adj" fmla="val 4993"/>
            </a:avLst>
          </a:prstGeom>
          <a:noFill/>
          <a:ln w="12700">
            <a:solidFill>
              <a:srgbClr val="1F7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9360" y="1778000"/>
            <a:ext cx="2019707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4400" dirty="0">
                <a:solidFill>
                  <a:srgbClr val="1F7A7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1,285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769360" y="2636520"/>
            <a:ext cx="201970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loans in outcome file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3950" y="1520191"/>
            <a:ext cx="2476500" cy="1907540"/>
          </a:xfrm>
          <a:prstGeom prst="roundRect">
            <a:avLst>
              <a:gd name="adj" fmla="val 4993"/>
            </a:avLst>
          </a:prstGeom>
          <a:noFill/>
          <a:ln w="12700">
            <a:solidFill>
              <a:srgbClr val="1F7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1760" y="1778000"/>
            <a:ext cx="2019707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4400" dirty="0">
                <a:solidFill>
                  <a:srgbClr val="1F7A7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634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61760" y="2636520"/>
            <a:ext cx="201970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matched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96350" y="1520191"/>
            <a:ext cx="2476500" cy="1907540"/>
          </a:xfrm>
          <a:prstGeom prst="roundRect">
            <a:avLst>
              <a:gd name="adj" fmla="val 4993"/>
            </a:avLst>
          </a:prstGeom>
          <a:noFill/>
          <a:ln w="12700">
            <a:solidFill>
              <a:srgbClr val="1F7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54160" y="1778000"/>
            <a:ext cx="2019707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4400" dirty="0">
                <a:solidFill>
                  <a:srgbClr val="1F7A7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55%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154160" y="2636520"/>
            <a:ext cx="201970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rate in matched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36880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loan per customer only; 16 customers have a second loan.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 problems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68934" y="1513841"/>
            <a:ext cx="10819638" cy="1808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applicant was approved: no outcomes for declined people (selection bias)</a:t>
            </a:r>
            <a:endParaRPr lang="en-US" sz="1800" dirty="0"/>
          </a:p>
          <a:p>
            <a:pPr algn="l" marL="197866" indent="-197866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do not line up: 1,285 loans but only 647 applications, 634 matched</a:t>
            </a:r>
            <a:endParaRPr lang="en-US" sz="1800" dirty="0"/>
          </a:p>
          <a:p>
            <a:pPr algn="l" marL="197866" indent="-197866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rate 40% in the full loan file vs 55% in matched data</a:t>
            </a:r>
            <a:endParaRPr lang="en-US" sz="1800" dirty="0"/>
          </a:p>
          <a:p>
            <a:pPr algn="l" marL="197866" indent="-197866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months only; recent loans may not have matured (bad rate fell from 69% to 49%)</a:t>
            </a:r>
            <a:endParaRPr lang="en-US" sz="1800" dirty="0"/>
          </a:p>
          <a:p>
            <a:pPr algn="l" marL="197866" indent="-197866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groups, e.g. only 27 weekly-paid customers</a:t>
            </a:r>
            <a:endParaRPr lang="en-US" sz="1800" dirty="0"/>
          </a:p>
          <a:p>
            <a:pPr algn="l" marL="197866" indent="-197866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definitions of Good/Bad and of rent_or_own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predicts a bad loan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23999"/>
          <a:ext cx="10556240" cy="262128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Lowest-risk group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Highest-risk group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 frequency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Semi-monthly: 42%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Weekly: 81% (n=27)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FICO retail score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20%: 39%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Bottom 20%: 72%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 and over: 43%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to 31: 62%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deposit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Yes: 54%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No: 63%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income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clear pattern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clear pattern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39928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rate by group. Overall average: 55%.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existing score does not separate good from bad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20189"/>
            <a:ext cx="5168900" cy="1640840"/>
          </a:xfrm>
          <a:prstGeom prst="roundRect">
            <a:avLst>
              <a:gd name="adj" fmla="val 5805"/>
            </a:avLst>
          </a:prstGeom>
          <a:noFill/>
          <a:ln w="12700">
            <a:solidFill>
              <a:srgbClr val="1F7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6960" y="1778000"/>
            <a:ext cx="479287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4400" dirty="0">
                <a:solidFill>
                  <a:srgbClr val="1F7A7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0.47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76960" y="2636521"/>
            <a:ext cx="479287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of raw_l2c_score (0.5 = coin flip)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3950" y="1520189"/>
            <a:ext cx="5168900" cy="1640840"/>
          </a:xfrm>
          <a:prstGeom prst="roundRect">
            <a:avLst>
              <a:gd name="adj" fmla="val 5805"/>
            </a:avLst>
          </a:prstGeom>
          <a:noFill/>
          <a:ln w="12700">
            <a:solidFill>
              <a:srgbClr val="1F7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1760" y="1778000"/>
            <a:ext cx="479287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4400" dirty="0">
                <a:solidFill>
                  <a:srgbClr val="1F7A7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0.67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61760" y="2636521"/>
            <a:ext cx="479287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of our model, cross-validated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39"/>
            <a:ext cx="113792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on 23 features, chosen because the data is small and the result must be explainable.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2800" y="2087882"/>
            <a:ext cx="5181600" cy="170688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316482"/>
            <a:ext cx="48661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85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Raises risk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25220" y="2575561"/>
            <a:ext cx="4774692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pay</a:t>
            </a:r>
            <a:endParaRPr lang="en-US" sz="1500" dirty="0"/>
          </a:p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amount requested</a:t>
            </a:r>
            <a:endParaRPr lang="en-US" sz="1500" dirty="0"/>
          </a:p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Bi-weekly pay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7600" y="2087882"/>
            <a:ext cx="5181600" cy="170688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26200" y="2316482"/>
            <a:ext cx="48661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Lowers risk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10020" y="2575561"/>
            <a:ext cx="477469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FICO retail score</a:t>
            </a:r>
            <a:endParaRPr lang="en-US" sz="1500" dirty="0"/>
          </a:p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age</a:t>
            </a:r>
            <a:endParaRPr lang="en-US" sz="1500" dirty="0"/>
          </a:p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deposit</a:t>
            </a:r>
            <a:endParaRPr lang="en-US" sz="1500" dirty="0"/>
          </a:p>
          <a:p>
            <a:pPr algn="l" marL="170180" indent="-17018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Semi-monthly pay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Model performance (5-fold cross-validation)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20189"/>
            <a:ext cx="3373914" cy="1640840"/>
          </a:xfrm>
          <a:prstGeom prst="roundRect">
            <a:avLst>
              <a:gd name="adj" fmla="val 5805"/>
            </a:avLst>
          </a:prstGeom>
          <a:noFill/>
          <a:ln w="12700">
            <a:solidFill>
              <a:srgbClr val="1F7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6960" y="1778000"/>
            <a:ext cx="2944043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4400" dirty="0">
                <a:solidFill>
                  <a:srgbClr val="1F7A7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0.665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76960" y="2636521"/>
            <a:ext cx="294404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AUC, logistic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8964" y="1520189"/>
            <a:ext cx="3373993" cy="1640840"/>
          </a:xfrm>
          <a:prstGeom prst="roundRect">
            <a:avLst>
              <a:gd name="adj" fmla="val 5805"/>
            </a:avLst>
          </a:prstGeom>
          <a:noFill/>
          <a:ln w="12700">
            <a:solidFill>
              <a:srgbClr val="1F7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6774" y="1778000"/>
            <a:ext cx="294412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4400" dirty="0">
                <a:solidFill>
                  <a:srgbClr val="1F7A7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0.27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666774" y="2636521"/>
            <a:ext cx="29441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 statistic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8857" y="1520189"/>
            <a:ext cx="3373993" cy="1640840"/>
          </a:xfrm>
          <a:prstGeom prst="roundRect">
            <a:avLst>
              <a:gd name="adj" fmla="val 5805"/>
            </a:avLst>
          </a:prstGeom>
          <a:noFill/>
          <a:ln w="12700">
            <a:solidFill>
              <a:srgbClr val="1F7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6667" y="1778000"/>
            <a:ext cx="2944124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4400" dirty="0">
                <a:solidFill>
                  <a:srgbClr val="1F7A7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0.64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56667" y="2636521"/>
            <a:ext cx="29441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AUC, gradient boosting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342138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95% range for the logistic AUC: 0.63 to 0.71. The simpler model won.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Stability test: train Oct-Jan, test Feb-Apr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24002"/>
          <a:ext cx="10556240" cy="196088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49022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CV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split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49022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0.588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22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 range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 to 0.71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 to 0.65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22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 rate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61% train, 51% test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738879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85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drops on later months. Treat the model as a pilot, not a finished product.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Cutoff: bad rate by share approved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24002"/>
          <a:ext cx="10556240" cy="245110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49022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 safest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 rate (CV)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 rate (time split)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49022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22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22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22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2291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top 30% shows a clear improvement on later months.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economics decide the cutoff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24002"/>
          <a:ext cx="10556240" cy="2051050"/>
        </p:xfrm>
        <a:graphic>
          <a:graphicData uri="http://schemas.openxmlformats.org/drawingml/2006/table">
            <a:tbl>
              <a:tblPr/>
              <a:tblGrid>
                <a:gridCol w="2639060"/>
                <a:gridCol w="2639060"/>
                <a:gridCol w="2639060"/>
                <a:gridCol w="2639060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 per good loan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per bad loan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share to approve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 all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about 1%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-$117,280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-$62,400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-$30,700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-$16,500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82905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assumptions, not company data. Rule: approve only if P(bad) is below profit / (profit + loss).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Limitations of this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68934" y="1513842"/>
            <a:ext cx="10819638" cy="1808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only on approved applicants, so results for declined groups are unknown</a:t>
            </a:r>
            <a:endParaRPr lang="en-US" sz="1800" dirty="0"/>
          </a:p>
          <a:p>
            <a:pPr algn="l" marL="197866" indent="-197866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630 rows: wide error ranges, small subgroups</a:t>
            </a:r>
            <a:endParaRPr lang="en-US" sz="1800" dirty="0"/>
          </a:p>
          <a:p>
            <a:pPr algn="l" marL="197866" indent="-197866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Time-split lift is weaker than random cross-validation</a:t>
            </a:r>
            <a:endParaRPr lang="en-US" sz="1800" dirty="0"/>
          </a:p>
          <a:p>
            <a:pPr algn="l" marL="197866" indent="-197866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Good/Bad definition and recent-loan maturity unclear</a:t>
            </a:r>
            <a:endParaRPr lang="en-US" sz="1800" dirty="0"/>
          </a:p>
          <a:p>
            <a:pPr algn="l" marL="197866" indent="-197866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is a model input: legal and fairness review needed</a:t>
            </a:r>
            <a:endParaRPr lang="en-US" sz="1800" dirty="0"/>
          </a:p>
          <a:p>
            <a:pPr algn="l" marL="197866" indent="-197866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profit data, so cutoff economics are assumed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 that would help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7"/>
            <a:ext cx="1985010" cy="1845310"/>
          </a:xfrm>
          <a:prstGeom prst="roundRect">
            <a:avLst>
              <a:gd name="adj" fmla="val 5334"/>
            </a:avLst>
          </a:prstGeom>
          <a:solidFill>
            <a:srgbClr val="FFFFFF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747521"/>
            <a:ext cx="157480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Declined applicants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6480" y="2385064"/>
            <a:ext cx="157480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or reject inference to fix selection bias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59735" y="1517017"/>
            <a:ext cx="1985010" cy="1845310"/>
          </a:xfrm>
          <a:prstGeom prst="roundRect">
            <a:avLst>
              <a:gd name="adj" fmla="val 5334"/>
            </a:avLst>
          </a:prstGeom>
          <a:solidFill>
            <a:srgbClr val="FFFFFF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90240" y="1747521"/>
            <a:ext cx="157480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Credit bureau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90240" y="2385064"/>
            <a:ext cx="1574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Fuller history than five FICO columns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03495" y="1517017"/>
            <a:ext cx="1985010" cy="1845310"/>
          </a:xfrm>
          <a:prstGeom prst="roundRect">
            <a:avLst>
              <a:gd name="adj" fmla="val 5334"/>
            </a:avLst>
          </a:prstGeom>
          <a:solidFill>
            <a:srgbClr val="FFFFFF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0" y="1747521"/>
            <a:ext cx="157480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Bank cash flow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34000" y="2385064"/>
            <a:ext cx="1574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stability, overdrafts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47255" y="1517017"/>
            <a:ext cx="1985010" cy="1845310"/>
          </a:xfrm>
          <a:prstGeom prst="roundRect">
            <a:avLst>
              <a:gd name="adj" fmla="val 5334"/>
            </a:avLst>
          </a:prstGeom>
          <a:solidFill>
            <a:srgbClr val="FFFFFF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77760" y="1747521"/>
            <a:ext cx="157480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Repayment history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77760" y="2385064"/>
            <a:ext cx="157480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payments, to define Bad properly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391015" y="1517017"/>
            <a:ext cx="1985010" cy="1845310"/>
          </a:xfrm>
          <a:prstGeom prst="roundRect">
            <a:avLst>
              <a:gd name="adj" fmla="val 5334"/>
            </a:avLst>
          </a:prstGeom>
          <a:solidFill>
            <a:srgbClr val="FFFFFF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21520" y="1747521"/>
            <a:ext cx="157480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Loan economics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21520" y="2385064"/>
            <a:ext cx="1574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Fees, interest, recoveries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Roadmap and governance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7"/>
            <a:ext cx="2520950" cy="1570990"/>
          </a:xfrm>
          <a:prstGeom prst="roundRect">
            <a:avLst>
              <a:gd name="adj" fmla="val 6265"/>
            </a:avLst>
          </a:prstGeom>
          <a:solidFill>
            <a:srgbClr val="FFFFFF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747521"/>
            <a:ext cx="212173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30 days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6480" y="2110742"/>
            <a:ext cx="212173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data links, define Good/Bad, gather declined-applicant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95675" y="1517017"/>
            <a:ext cx="2520950" cy="1570990"/>
          </a:xfrm>
          <a:prstGeom prst="roundRect">
            <a:avLst>
              <a:gd name="adj" fmla="val 6265"/>
            </a:avLst>
          </a:prstGeom>
          <a:solidFill>
            <a:srgbClr val="FFFFFF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26180" y="1747521"/>
            <a:ext cx="212173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60 days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26180" y="2110742"/>
            <a:ext cx="212173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Pilot: auto-approve top 30%, manual review for the rest, A/B test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5375" y="1517017"/>
            <a:ext cx="2520950" cy="1570990"/>
          </a:xfrm>
          <a:prstGeom prst="roundRect">
            <a:avLst>
              <a:gd name="adj" fmla="val 6265"/>
            </a:avLst>
          </a:prstGeom>
          <a:solidFill>
            <a:srgbClr val="FFFFFF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5880" y="1747521"/>
            <a:ext cx="212173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90 days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5880" y="2110742"/>
            <a:ext cx="212173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Retrain, monitor AUC and drift monthly, fairness and compliance review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55075" y="1517017"/>
            <a:ext cx="2520950" cy="1570990"/>
          </a:xfrm>
          <a:prstGeom prst="roundRect">
            <a:avLst>
              <a:gd name="adj" fmla="val 6265"/>
            </a:avLst>
          </a:prstGeom>
          <a:solidFill>
            <a:srgbClr val="FFFFFF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85580" y="1747521"/>
            <a:ext cx="212173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Next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085580" y="2110742"/>
            <a:ext cx="212173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Fraud, affordability and collections models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pLend Loan Approval Analysis">
  <a:themeElements>
    <a:clrScheme name="TapLend Loan Approval Analysis">
      <a:dk1>
        <a:srgbClr val="14213D"/>
      </a:dk1>
      <a:lt1>
        <a:srgbClr val="F6F4EF"/>
      </a:lt1>
      <a:dk2>
        <a:srgbClr val="4D566A"/>
      </a:dk2>
      <a:lt2>
        <a:srgbClr val="DFDFDD"/>
      </a:lt2>
      <a:accent1>
        <a:srgbClr val="1F7A7A"/>
      </a:accent1>
      <a:accent2>
        <a:srgbClr val="B85A14"/>
      </a:accent2>
      <a:accent3>
        <a:srgbClr val="7FD1D1"/>
      </a:accent3>
      <a:accent4>
        <a:srgbClr val="5B6573"/>
      </a:accent4>
      <a:accent5>
        <a:srgbClr val="B9C4D6"/>
      </a:accent5>
      <a:accent6>
        <a:srgbClr val="9AA0A6"/>
      </a:accent6>
      <a:hlink>
        <a:srgbClr val="0563C1"/>
      </a:hlink>
      <a:folHlink>
        <a:srgbClr val="954F72"/>
      </a:folHlink>
    </a:clrScheme>
    <a:fontScheme name="TapLend Loan Approval Analysi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TapLend Loan Approval Analysis</dc:title>
  <dc:subject/>
  <dc:creator/>
  <cp:lastModifiedBy/>
  <cp:revision>1</cp:revision>
  <dcterms:created xsi:type="dcterms:W3CDTF">2026-10-13T18:47:10Z</dcterms:created>
  <dcterms:modified xsi:type="dcterms:W3CDTF">2026-10-13T18:47:10Z</dcterms:modified>
</cp:coreProperties>
</file>